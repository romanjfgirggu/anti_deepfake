
<file path=[Content_Types].xml><?xml version="1.0" encoding="UTF-8" standalone="yes"?>
<Types xmlns="http://schemas.openxmlformats.org/package/2006/content-types"><Default  Extension="jpg?s=612x612&w=0&k=20&c=fgw0qitjs_jt8uge15axvsiw1xf_i2pim8rprro3g2y=" ContentType="application/unknown"/><Default  Extension="net/get-vthumb/3448035/56245dbe1dade229b60346404d664b6d/800x450" ContentType="application/unknown"/><Default  Extension="wmf" ContentType="image/x-wmf"/><Default  Extension="png" ContentType="image/png"/><Default  Extension="net/i?id=1177565e7ebfcf457f8d347a462e41f15bc954cd-10651277-images-thumbs&n=13" ContentType="application/unknown"/><Default  Extension="jpg" ContentType="image/jpeg"/><Default  Extension="jpeg" ContentType="image/jpeg"/><Default  Extension="xml" ContentType="application/xml"/><Default  Extension="rels" ContentType="application/vnd.openxmlformats-package.relationships+xml"/><Default  Extension="bin" ContentType="application/vnd.openxmlformats-officedocument.oleObject"/><Override  PartName="/ppt/slides/slide9.xml" ContentType="application/vnd.openxmlformats-officedocument.presentationml.slide+xml"/><Override  PartName="/ppt/slides/slide10.xml" ContentType="application/vnd.openxmlformats-officedocument.presentationml.slide+xml"/><Override  PartName="/ppt/slides/slide6.xml" ContentType="application/vnd.openxmlformats-officedocument.presentationml.slide+xml"/><Override  PartName="/ppt/slides/slide3.xml" ContentType="application/vnd.openxmlformats-officedocument.presentationml.slide+xml"/><Override  PartName="/ppt/slides/slide2.xml" ContentType="application/vnd.openxmlformats-officedocument.presentationml.slide+xml"/><Override  PartName="/ppt/slides/slide1.xml" ContentType="application/vnd.openxmlformats-officedocument.presentationml.slide+xml"/><Override  PartName="/ppt/slideLayouts/slideLayout10.xml" ContentType="application/vnd.openxmlformats-officedocument.presentationml.slideLayout+xml"/><Override  PartName="/ppt/slideLayouts/slideLayout4.xml" ContentType="application/vnd.openxmlformats-officedocument.presentationml.slideLayout+xml"/><Override  PartName="/ppt/slideLayouts/slideLayout11.xml" ContentType="application/vnd.openxmlformats-officedocument.presentationml.slideLayout+xml"/><Override  PartName="/ppt/slideLayouts/slideLayout3.xml" ContentType="application/vnd.openxmlformats-officedocument.presentationml.slideLayout+xml"/><Override  PartName="/ppt/slideLayouts/slideLayout7.xml" ContentType="application/vnd.openxmlformats-officedocument.presentationml.slideLayout+xml"/><Override  PartName="/ppt/slideLayouts/slideLayout9.xml" ContentType="application/vnd.openxmlformats-officedocument.presentationml.slideLayout+xml"/><Override  PartName="/ppt/slideLayouts/slideLayout1.xml" ContentType="application/vnd.openxmlformats-officedocument.presentationml.slideLayout+xml"/><Override  PartName="/ppt/slideLayouts/slideLayout8.xml" ContentType="application/vnd.openxmlformats-officedocument.presentationml.slideLayout+xml"/><Override  PartName="/ppt/slideLayouts/slideLayout2.xml" ContentType="application/vnd.openxmlformats-officedocument.presentationml.slideLayout+xml"/><Override  PartName="/ppt/slides/slide8.xml" ContentType="application/vnd.openxmlformats-officedocument.presentationml.slide+xml"/><Override  PartName="/docProps/app.xml" ContentType="application/vnd.openxmlformats-officedocument.extended-properties+xml"/><Override  PartName="/ppt/slideLayouts/slideLayout6.xml" ContentType="application/vnd.openxmlformats-officedocument.presentationml.slideLayout+xml"/><Override  PartName="/ppt/slideLayouts/slideLayout5.xml" ContentType="application/vnd.openxmlformats-officedocument.presentationml.slideLayout+xml"/><Override  PartName="/ppt/slides/slide4.xml" ContentType="application/vnd.openxmlformats-officedocument.presentationml.slide+xml"/><Override  PartName="/docProps/core.xml" ContentType="application/vnd.openxmlformats-package.core-properties+xml"/><Override  PartName="/ppt/viewProps.xml" ContentType="application/vnd.openxmlformats-officedocument.presentationml.viewProps+xml"/><Override  PartName="/ppt/slides/slide11.xml" ContentType="application/vnd.openxmlformats-officedocument.presentationml.slide+xml"/><Override  PartName="/ppt/slides/slide7.xml" ContentType="application/vnd.openxmlformats-officedocument.presentationml.slide+xml"/><Override  PartName="/ppt/slides/slide5.xml" ContentType="application/vnd.openxmlformats-officedocument.presentationml.slide+xml"/><Override  PartName="/ppt/presProps.xml" ContentType="application/vnd.openxmlformats-officedocument.presentationml.presProps+xml"/><Override  PartName="/ppt/slideMasters/slideMaster1.xml" ContentType="application/vnd.openxmlformats-officedocument.presentationml.slideMaster+xml"/><Override  PartName="/ppt/presentation.xml" ContentType="application/vnd.openxmlformats-officedocument.presentationml.presentation.main+xml"/><Override  PartName="/ppt/tableStyles.xml" ContentType="application/vnd.openxmlformats-officedocument.presentationml.tableStyles+xml"/><Override  PartName="/ppt/theme/theme1.xml" ContentType="application/vnd.openxmlformats-officedocument.theme+xml"/>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76793" name=""/>
          <p:cNvSpPr txBox="1"/>
          <p:nvPr/>
        </p:nvSpPr>
        <p:spPr bwMode="auto">
          <a:xfrm flipH="0" flipV="0">
            <a:off x="3007127" y="121971"/>
            <a:ext cx="6959522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Система распознавания deepfake по изображениям, видео и голосу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20608566" name=""/>
          <p:cNvSpPr txBox="1"/>
          <p:nvPr/>
        </p:nvSpPr>
        <p:spPr bwMode="auto">
          <a:xfrm flipH="0" flipV="0">
            <a:off x="4114476" y="1424126"/>
            <a:ext cx="4744826" cy="5273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>
                <a:latin typeface="Verdana"/>
                <a:ea typeface="Verdana"/>
                <a:cs typeface="Verdana"/>
              </a:rPr>
              <a:t>Выполнил</a:t>
            </a:r>
            <a:r>
              <a:rPr sz="2000">
                <a:latin typeface="Verdana"/>
                <a:ea typeface="Verdana"/>
                <a:cs typeface="Verdana"/>
              </a:rPr>
              <a:t>: Гурбанов Роман Намигович</a:t>
            </a:r>
            <a:endParaRPr sz="2000">
              <a:latin typeface="Verdana"/>
              <a:cs typeface="Verdana"/>
            </a:endParaRPr>
          </a:p>
          <a:p>
            <a:pPr algn="ctr">
              <a:defRPr/>
            </a:pPr>
            <a:r>
              <a:rPr sz="2000">
                <a:latin typeface="Verdana"/>
                <a:ea typeface="Verdana"/>
                <a:cs typeface="Verdana"/>
              </a:rPr>
              <a:t>Команда</a:t>
            </a:r>
            <a:r>
              <a:rPr sz="2000">
                <a:latin typeface="Verdana"/>
                <a:ea typeface="Verdana"/>
                <a:cs typeface="Verdana"/>
              </a:rPr>
              <a:t>: -</a:t>
            </a:r>
            <a:endParaRPr sz="2000">
              <a:latin typeface="Verdana"/>
              <a:cs typeface="Verdana"/>
            </a:endParaRPr>
          </a:p>
          <a:p>
            <a:pPr algn="ctr">
              <a:defRPr/>
            </a:pPr>
            <a:r>
              <a:rPr sz="2000">
                <a:latin typeface="Verdana"/>
                <a:ea typeface="Verdana"/>
                <a:cs typeface="Verdana"/>
              </a:rPr>
              <a:t>Учебное заведение</a:t>
            </a:r>
            <a:r>
              <a:rPr sz="2000">
                <a:latin typeface="Verdana"/>
                <a:ea typeface="Verdana"/>
                <a:cs typeface="Verdana"/>
              </a:rPr>
              <a:t>: Колледж Судостроения Информационных и </a:t>
            </a: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r>
              <a:rPr sz="2000">
                <a:latin typeface="Verdana"/>
                <a:ea typeface="Verdana"/>
                <a:cs typeface="Verdana"/>
              </a:rPr>
              <a:t>Прикладных Технологий (КСИПТ)</a:t>
            </a: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endParaRPr sz="2000"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r>
              <a:rPr sz="2000">
                <a:latin typeface="Verdana"/>
                <a:ea typeface="Verdana"/>
                <a:cs typeface="Verdana"/>
              </a:rPr>
              <a:t>Год</a:t>
            </a:r>
            <a:r>
              <a:rPr sz="2000">
                <a:latin typeface="Verdana"/>
                <a:ea typeface="Verdana"/>
                <a:cs typeface="Verdana"/>
              </a:rPr>
              <a:t>:</a:t>
            </a:r>
            <a:r>
              <a:rPr sz="2000">
                <a:latin typeface="Verdana"/>
                <a:ea typeface="Verdana"/>
                <a:cs typeface="Verdana"/>
              </a:rPr>
              <a:t> 2026</a:t>
            </a:r>
            <a:endParaRPr sz="2000">
              <a:latin typeface="Verdana"/>
              <a:ea typeface="Verdana"/>
              <a:cs typeface="Verdana"/>
            </a:endParaRPr>
          </a:p>
        </p:txBody>
      </p:sp>
      <p:pic>
        <p:nvPicPr>
          <p:cNvPr id="93282943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292287" y="3514077"/>
            <a:ext cx="2389202" cy="2389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904780" name=""/>
          <p:cNvSpPr txBox="1"/>
          <p:nvPr/>
        </p:nvSpPr>
        <p:spPr bwMode="auto">
          <a:xfrm flipH="0" flipV="0">
            <a:off x="3007126" y="121970"/>
            <a:ext cx="696060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Актуальность проблемы deepfake</a:t>
            </a:r>
            <a:endParaRPr sz="2200" b="1">
              <a:latin typeface="Verdana"/>
              <a:cs typeface="Verdana"/>
            </a:endParaRPr>
          </a:p>
        </p:txBody>
      </p:sp>
      <p:pic>
        <p:nvPicPr>
          <p:cNvPr id="41663668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924036" y="1266917"/>
            <a:ext cx="7177760" cy="4037490"/>
          </a:xfrm>
          <a:prstGeom prst="rect">
            <a:avLst/>
          </a:prstGeom>
        </p:spPr>
      </p:pic>
      <p:sp>
        <p:nvSpPr>
          <p:cNvPr id="1859073643" name=""/>
          <p:cNvSpPr txBox="1"/>
          <p:nvPr/>
        </p:nvSpPr>
        <p:spPr bwMode="auto">
          <a:xfrm flipH="0" flipV="0">
            <a:off x="115919" y="1410962"/>
            <a:ext cx="4808476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/>
              <a:t>Deepfake-технологии позволяют создавать реалистичные подделки лица и голоса</a:t>
            </a:r>
            <a:r>
              <a:rPr sz="2000"/>
              <a:t>.</a:t>
            </a:r>
            <a:r>
              <a:rPr sz="2000"/>
              <a:t> </a:t>
            </a:r>
            <a:r>
              <a:rPr sz="2000"/>
              <a:t>Такие подделки могут использоваться для:</a:t>
            </a:r>
            <a:endParaRPr sz="2000"/>
          </a:p>
          <a:p>
            <a:pPr marL="305908" indent="-305908" algn="l">
              <a:buFont typeface="Arial"/>
              <a:buChar char="•"/>
              <a:defRPr/>
            </a:pPr>
            <a:r>
              <a:rPr sz="2000"/>
              <a:t>Дезинформации</a:t>
            </a:r>
            <a:r>
              <a:rPr sz="2000"/>
              <a:t>;</a:t>
            </a:r>
            <a:endParaRPr sz="2000"/>
          </a:p>
          <a:p>
            <a:pPr marL="305908" indent="-305908" algn="l">
              <a:buFont typeface="Arial"/>
              <a:buChar char="•"/>
              <a:defRPr/>
            </a:pPr>
            <a:r>
              <a:rPr sz="2000"/>
              <a:t>мошенничества</a:t>
            </a:r>
            <a:r>
              <a:rPr sz="2000"/>
              <a:t>;</a:t>
            </a:r>
            <a:endParaRPr sz="2000"/>
          </a:p>
          <a:p>
            <a:pPr marL="305908" indent="-305908" algn="l">
              <a:buFont typeface="Arial"/>
              <a:buChar char="•"/>
              <a:defRPr/>
            </a:pPr>
            <a:r>
              <a:rPr sz="2000"/>
              <a:t>подмены личности</a:t>
            </a:r>
            <a:r>
              <a:rPr sz="2000"/>
              <a:t>;</a:t>
            </a:r>
            <a:endParaRPr sz="2000"/>
          </a:p>
          <a:p>
            <a:pPr marL="305908" indent="-305908" algn="l">
              <a:buFont typeface="Arial"/>
              <a:buChar char="•"/>
              <a:defRPr/>
            </a:pPr>
            <a:r>
              <a:rPr sz="2000"/>
              <a:t>репутационных атак</a:t>
            </a:r>
            <a:r>
              <a:rPr sz="2000"/>
              <a:t>.</a:t>
            </a:r>
            <a:endParaRPr sz="2000"/>
          </a:p>
          <a:p>
            <a:pPr algn="l">
              <a:defRPr/>
            </a:pPr>
            <a:r>
              <a:rPr sz="2000"/>
              <a:t>Ручное распознавание становится всё менее надёжным</a:t>
            </a:r>
            <a:r>
              <a:rPr lang="en-US" sz="2000"/>
              <a:t>, </a:t>
            </a:r>
            <a:r>
              <a:rPr lang="en-US" sz="2000"/>
              <a:t>п</a:t>
            </a:r>
            <a:r>
              <a:rPr sz="2000"/>
              <a:t>оэтому возникает необходимость в автоматизированных системах обнаружения</a:t>
            </a:r>
            <a:r>
              <a:rPr sz="2000"/>
              <a:t>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956916" name=""/>
          <p:cNvSpPr txBox="1"/>
          <p:nvPr/>
        </p:nvSpPr>
        <p:spPr bwMode="auto">
          <a:xfrm flipH="0" flipV="0">
            <a:off x="3007126" y="121970"/>
            <a:ext cx="696132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Цель проекта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735886196" name=""/>
          <p:cNvSpPr txBox="1"/>
          <p:nvPr/>
        </p:nvSpPr>
        <p:spPr bwMode="auto">
          <a:xfrm flipH="0" flipV="0">
            <a:off x="3750215" y="698898"/>
            <a:ext cx="4813875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Разработать систему, способную определять deepfake-контент по: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05908" indent="-305908" algn="ctr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Изображениям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05908" indent="-305908" algn="ctr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видео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305908" indent="-305908" algn="ctr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аудио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000"/>
          </a:p>
        </p:txBody>
      </p:sp>
      <p:pic>
        <p:nvPicPr>
          <p:cNvPr id="842810032" name=""/>
          <p:cNvPicPr>
            <a:picLocks noChangeAspect="1"/>
          </p:cNvPicPr>
          <p:nvPr/>
        </p:nvPicPr>
        <p:blipFill>
          <a:blip r:embed="rId2"/>
          <a:srcRect l="0" t="7850" r="0" b="0"/>
          <a:stretch/>
        </p:blipFill>
        <p:spPr bwMode="auto">
          <a:xfrm flipH="0" flipV="0">
            <a:off x="72414" y="2541595"/>
            <a:ext cx="6515100" cy="3291474"/>
          </a:xfrm>
          <a:prstGeom prst="rect">
            <a:avLst/>
          </a:prstGeom>
        </p:spPr>
      </p:pic>
      <p:sp>
        <p:nvSpPr>
          <p:cNvPr id="1913722440" name=""/>
          <p:cNvSpPr txBox="1"/>
          <p:nvPr/>
        </p:nvSpPr>
        <p:spPr bwMode="auto">
          <a:xfrm flipH="0" flipV="0">
            <a:off x="6701816" y="2922232"/>
            <a:ext cx="5344134" cy="2530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>
                <a:latin typeface="Verdana"/>
                <a:ea typeface="Verdana"/>
                <a:cs typeface="Verdana"/>
              </a:rPr>
              <a:t>Система должна обеспечивать удобное взаимодействие с моделью через API и пользовательский интерфейс, для демонстрации возможностей.</a:t>
            </a:r>
            <a:endParaRPr sz="2000">
              <a:latin typeface="Verdana"/>
              <a:ea typeface="Verdana"/>
              <a:cs typeface="Verdana"/>
            </a:endParaRPr>
          </a:p>
          <a:p>
            <a:pPr algn="l">
              <a:defRPr/>
            </a:pPr>
            <a:r>
              <a:rPr sz="2000">
                <a:latin typeface="Verdana"/>
                <a:ea typeface="Verdana"/>
                <a:cs typeface="Verdana"/>
              </a:rPr>
              <a:t>Так же, каким либо способом, система должна пояснять свой выбор какой-либо метрикой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212268" name=""/>
          <p:cNvSpPr txBox="1"/>
          <p:nvPr/>
        </p:nvSpPr>
        <p:spPr bwMode="auto">
          <a:xfrm flipH="0" flipV="0">
            <a:off x="3007126" y="121970"/>
            <a:ext cx="6962041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Задачи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155863057" name=""/>
          <p:cNvSpPr txBox="1"/>
          <p:nvPr/>
        </p:nvSpPr>
        <p:spPr bwMode="auto">
          <a:xfrm flipH="0" flipV="0">
            <a:off x="5544789" y="1278014"/>
            <a:ext cx="5622735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Изучить подходы к распознаванию deepfake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Реализовать обработку изображений и видео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Реализовать отдельную обработку аудио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Извлечь информативные признаки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Обучить классификатор для определения real/fake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Создать API на FastAPI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Разработать интерфейс на PySide6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Оценить качество модели по ROC-AUC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16905146" name=""/>
          <p:cNvPicPr>
            <a:picLocks noChangeAspect="1"/>
          </p:cNvPicPr>
          <p:nvPr/>
        </p:nvPicPr>
        <p:blipFill>
          <a:blip/>
          <a:stretch/>
        </p:blipFill>
        <p:spPr bwMode="auto">
          <a:xfrm flipH="0" flipV="0">
            <a:off x="1132426" y="1278014"/>
            <a:ext cx="3749399" cy="374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580264" name=""/>
          <p:cNvSpPr txBox="1"/>
          <p:nvPr/>
        </p:nvSpPr>
        <p:spPr bwMode="auto">
          <a:xfrm flipH="0" flipV="0">
            <a:off x="3007126" y="121970"/>
            <a:ext cx="6968881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Целевая аудитория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107528752" name=""/>
          <p:cNvSpPr txBox="1"/>
          <p:nvPr/>
        </p:nvSpPr>
        <p:spPr bwMode="auto">
          <a:xfrm flipH="0" flipV="0">
            <a:off x="763794" y="2101048"/>
            <a:ext cx="5720655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Различные бизнесы и компании, заинтересованные в детекции и устранении подобных обнов.</a:t>
            </a:r>
            <a:endParaRPr sz="2000"/>
          </a:p>
          <a:p>
            <a:pPr>
              <a:defRPr/>
            </a:pPr>
            <a:r>
              <a:rPr sz="2000"/>
              <a:t>Для их удобства как раз таки и создан </a:t>
            </a:r>
            <a:r>
              <a:rPr sz="2000"/>
              <a:t>A</a:t>
            </a:r>
            <a:r>
              <a:rPr sz="2000"/>
              <a:t>P</a:t>
            </a:r>
            <a:r>
              <a:rPr sz="2000"/>
              <a:t>I, по которому любой программист может получить доступ к модели и легко пользоваться ее возможностями.</a:t>
            </a:r>
            <a:endParaRPr sz="2000"/>
          </a:p>
        </p:txBody>
      </p:sp>
      <p:pic>
        <p:nvPicPr>
          <p:cNvPr id="27777871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33324" y="1627572"/>
            <a:ext cx="4572000" cy="304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132430" name=""/>
          <p:cNvSpPr txBox="1"/>
          <p:nvPr/>
        </p:nvSpPr>
        <p:spPr bwMode="auto">
          <a:xfrm flipH="0" flipV="0">
            <a:off x="3007126" y="121970"/>
            <a:ext cx="696276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Архитектура решения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362922698" name=""/>
          <p:cNvSpPr txBox="1"/>
          <p:nvPr/>
        </p:nvSpPr>
        <p:spPr bwMode="auto">
          <a:xfrm flipH="0" flipV="0">
            <a:off x="514717" y="758236"/>
            <a:ext cx="5973789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>
                <a:latin typeface="Verdana"/>
                <a:ea typeface="Verdana"/>
                <a:cs typeface="Verdana"/>
              </a:rPr>
              <a:t>Общий поток:</a:t>
            </a:r>
            <a:endParaRPr sz="2000">
              <a:latin typeface="Verdana"/>
              <a:cs typeface="Verdana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Пользователь → PySide6 → FastAPI → ML-модель → Результат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80529412" name=""/>
          <p:cNvSpPr txBox="1"/>
          <p:nvPr/>
        </p:nvSpPr>
        <p:spPr bwMode="auto">
          <a:xfrm flipH="0" flipV="0">
            <a:off x="513637" y="2833423"/>
            <a:ext cx="5974869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>
                <a:latin typeface="Verdana"/>
                <a:ea typeface="Verdana"/>
                <a:cs typeface="Verdana"/>
              </a:rPr>
              <a:t>Фото / Видео</a:t>
            </a:r>
            <a:r>
              <a:rPr sz="2000">
                <a:latin typeface="Verdana"/>
                <a:ea typeface="Verdana"/>
                <a:cs typeface="Verdana"/>
              </a:rPr>
              <a:t>:</a:t>
            </a:r>
            <a:endParaRPr sz="2000">
              <a:latin typeface="Verdana"/>
              <a:ea typeface="Verdana"/>
              <a:cs typeface="Verdana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Файл → MTCNN → Xception → признаки → SVC → real/fake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17690981" name=""/>
          <p:cNvSpPr txBox="1"/>
          <p:nvPr/>
        </p:nvSpPr>
        <p:spPr bwMode="auto">
          <a:xfrm flipH="0" flipV="0">
            <a:off x="514717" y="5039525"/>
            <a:ext cx="5974509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>
                <a:latin typeface="Verdana"/>
                <a:ea typeface="Verdana"/>
                <a:cs typeface="Verdana"/>
              </a:rPr>
              <a:t>Аудио</a:t>
            </a:r>
            <a:r>
              <a:rPr sz="2000">
                <a:latin typeface="Verdana"/>
                <a:ea typeface="Verdana"/>
                <a:cs typeface="Verdana"/>
              </a:rPr>
              <a:t>:</a:t>
            </a:r>
            <a:endParaRPr sz="2000">
              <a:latin typeface="Verdana"/>
              <a:ea typeface="Verdana"/>
              <a:cs typeface="Verdana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Файл → извлечение аудиопризнаков → аудиомодель → real/fake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51057726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565460" y="1500793"/>
            <a:ext cx="3671460" cy="3671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937956" name=""/>
          <p:cNvSpPr txBox="1"/>
          <p:nvPr/>
        </p:nvSpPr>
        <p:spPr bwMode="auto">
          <a:xfrm flipH="0" flipV="0">
            <a:off x="3007126" y="121970"/>
            <a:ext cx="696348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Технологический стек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228924180" name=""/>
          <p:cNvSpPr txBox="1"/>
          <p:nvPr/>
        </p:nvSpPr>
        <p:spPr bwMode="auto">
          <a:xfrm flipH="0" flipV="0">
            <a:off x="325011" y="1610926"/>
            <a:ext cx="5645265" cy="3139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Python </a:t>
            </a:r>
            <a:r>
              <a:rPr sz="2000">
                <a:latin typeface="Verdana"/>
                <a:ea typeface="Verdana"/>
                <a:cs typeface="Verdana"/>
              </a:rPr>
              <a:t>— основной язык разработки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MTCNN </a:t>
            </a:r>
            <a:r>
              <a:rPr sz="2000">
                <a:latin typeface="Verdana"/>
                <a:ea typeface="Verdana"/>
                <a:cs typeface="Verdana"/>
              </a:rPr>
              <a:t>— детекция и выделение лиц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Xception </a:t>
            </a:r>
            <a:r>
              <a:rPr sz="2000">
                <a:latin typeface="Verdana"/>
                <a:ea typeface="Verdana"/>
                <a:cs typeface="Verdana"/>
              </a:rPr>
              <a:t>— извлечение признаков изображения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SVC (sklearn)</a:t>
            </a:r>
            <a:r>
              <a:rPr sz="2000">
                <a:latin typeface="Verdana"/>
                <a:ea typeface="Verdana"/>
                <a:cs typeface="Verdana"/>
              </a:rPr>
              <a:t> — бинарная классификация real/fake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FastAPI </a:t>
            </a:r>
            <a:r>
              <a:rPr sz="2000">
                <a:latin typeface="Verdana"/>
                <a:ea typeface="Verdana"/>
                <a:cs typeface="Verdana"/>
              </a:rPr>
              <a:t>— реализация API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 b="1">
                <a:latin typeface="Verdana"/>
                <a:ea typeface="Verdana"/>
                <a:cs typeface="Verdana"/>
              </a:rPr>
              <a:t>PySide6 </a:t>
            </a:r>
            <a:r>
              <a:rPr sz="2000">
                <a:latin typeface="Verdana"/>
                <a:ea typeface="Verdana"/>
                <a:cs typeface="Verdana"/>
              </a:rPr>
              <a:t>— desktop-интерфейс</a:t>
            </a:r>
            <a:endParaRPr sz="2000">
              <a:latin typeface="Verdana"/>
              <a:cs typeface="Verdana"/>
            </a:endParaRPr>
          </a:p>
          <a:p>
            <a:pPr marL="305908" indent="-305908" algn="l">
              <a:buFont typeface="Arial"/>
              <a:buChar char="•"/>
              <a:defRPr/>
            </a:pPr>
            <a:r>
              <a:rPr sz="2000">
                <a:latin typeface="Verdana"/>
                <a:ea typeface="Verdana"/>
                <a:cs typeface="Verdana"/>
              </a:rPr>
              <a:t>Отдельная модель для аудио — анализ голосовых deepfake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129632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296334" y="1447831"/>
            <a:ext cx="3465990" cy="3465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419757" name=""/>
          <p:cNvSpPr txBox="1"/>
          <p:nvPr/>
        </p:nvSpPr>
        <p:spPr bwMode="auto">
          <a:xfrm flipH="0" flipV="0">
            <a:off x="3007126" y="121970"/>
            <a:ext cx="69642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Обоснование выбора подхода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1721053842" name=""/>
          <p:cNvSpPr txBox="1"/>
          <p:nvPr/>
        </p:nvSpPr>
        <p:spPr bwMode="auto">
          <a:xfrm flipH="0" flipV="0">
            <a:off x="3053364" y="898863"/>
            <a:ext cx="6254289" cy="5852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ctr">
              <a:buFont typeface="Arial"/>
              <a:buChar char="•"/>
              <a:defRPr/>
            </a:pPr>
            <a:r>
              <a:rPr b="1"/>
              <a:t>MTCNN </a:t>
            </a:r>
            <a:r>
              <a:rPr/>
              <a:t>позволяет точно находить лицо на изображении</a:t>
            </a:r>
            <a:endParaRPr/>
          </a:p>
          <a:p>
            <a:pPr marL="283879" indent="-283879" algn="ctr">
              <a:buFont typeface="Arial"/>
              <a:buChar char="•"/>
              <a:defRPr/>
            </a:pPr>
            <a:r>
              <a:rPr b="1"/>
              <a:t>Xception </a:t>
            </a:r>
            <a:r>
              <a:rPr/>
              <a:t>извлекает глубокие визуальные признаки</a:t>
            </a:r>
            <a:endParaRPr/>
          </a:p>
          <a:p>
            <a:pPr marL="283879" indent="-283879" algn="ctr">
              <a:buFont typeface="Arial"/>
              <a:buChar char="•"/>
              <a:defRPr/>
            </a:pPr>
            <a:r>
              <a:rPr b="1"/>
              <a:t>SVC </a:t>
            </a:r>
            <a:r>
              <a:rPr/>
              <a:t>хорошо работает на готовых векторах признаков</a:t>
            </a: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r>
              <a:rPr b="1"/>
              <a:t>Такой подход позволяет объединить:</a:t>
            </a:r>
            <a:endParaRPr b="1"/>
          </a:p>
          <a:p>
            <a:pPr marL="283879" indent="-283879" algn="ctr">
              <a:buFont typeface="Arial"/>
              <a:buChar char="•"/>
              <a:defRPr/>
            </a:pPr>
            <a:r>
              <a:rPr/>
              <a:t>преимущества нейросетевых признаков</a:t>
            </a:r>
            <a:endParaRPr/>
          </a:p>
          <a:p>
            <a:pPr marL="283879" indent="-283879" algn="ctr">
              <a:buFont typeface="Arial"/>
              <a:buChar char="•"/>
              <a:defRPr/>
            </a:pPr>
            <a:r>
              <a:rPr/>
              <a:t>простоту и эффективность классического ML</a:t>
            </a:r>
            <a:endParaRPr/>
          </a:p>
          <a:p>
            <a:pPr marL="283879" indent="-283879" algn="ctr">
              <a:buFont typeface="Arial"/>
              <a:buChar char="•"/>
              <a:defRPr/>
            </a:pPr>
            <a:r>
              <a:rPr/>
              <a:t>Для аудио используется отдельная модель, так как голосовые deepfake имеют другую природу признаков</a:t>
            </a:r>
            <a:endParaRPr/>
          </a:p>
        </p:txBody>
      </p:sp>
      <p:pic>
        <p:nvPicPr>
          <p:cNvPr id="57352940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622004" y="2075897"/>
            <a:ext cx="5116290" cy="3017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240889" name=""/>
          <p:cNvSpPr txBox="1"/>
          <p:nvPr/>
        </p:nvSpPr>
        <p:spPr bwMode="auto">
          <a:xfrm flipH="0" flipV="0">
            <a:off x="3007126" y="121970"/>
            <a:ext cx="696455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Дальнейшее развитие проекта: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87673142" name=""/>
          <p:cNvSpPr txBox="1"/>
          <p:nvPr/>
        </p:nvSpPr>
        <p:spPr bwMode="auto">
          <a:xfrm flipH="0" flipV="0">
            <a:off x="3360461" y="898863"/>
            <a:ext cx="6257889" cy="4663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Повышение точности модели за счёт расширения и балансировки датасета;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улучшение аудиомодуля для более надёжного распознавания голосовых deepfake;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использование ансамбля моделей для повышения качества классификации;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объединение результатов анализа фото, видео и аудио в единую систему оценки;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разработка web-версии приложения;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добавление более подробной интерпретации результата анализа;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оптимизация скорости обработки файлов;</a:t>
            </a:r>
            <a:endParaRPr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тестирование системы на новых типах deepfake.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312140" name=""/>
          <p:cNvSpPr txBox="1"/>
          <p:nvPr/>
        </p:nvSpPr>
        <p:spPr bwMode="auto">
          <a:xfrm flipH="0" flipV="0">
            <a:off x="3007126" y="121970"/>
            <a:ext cx="696491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Ожидаемые результаты проекта: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1584964942" name=""/>
          <p:cNvSpPr txBox="1"/>
          <p:nvPr/>
        </p:nvSpPr>
        <p:spPr bwMode="auto">
          <a:xfrm flipH="0" flipV="0">
            <a:off x="3360461" y="898863"/>
            <a:ext cx="6259329" cy="4663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Разработка системы распознавания deepfake по изображениям, видео и аудио;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реализация модели для определения классов real/fake;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создание API для взаимодействия с моделью;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разработка пользовательского приложения с удобной загрузкой файлов;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получение метрики качества, подтверждающей работоспособность решения;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демонстрация практического применения системы для анализа подозрительного контента.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1">
                <a:lumMod val="60000"/>
                <a:lumOff val="40000"/>
                <a:alpha val="57999"/>
              </a:schemeClr>
            </a:gs>
            <a:gs pos="35000">
              <a:schemeClr val="accent1">
                <a:lumMod val="60000"/>
                <a:lumOff val="40000"/>
                <a:alpha val="57999"/>
              </a:schemeClr>
            </a:gs>
            <a:gs pos="100000">
              <a:schemeClr val="accent1">
                <a:alpha val="57999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115382" name=""/>
          <p:cNvSpPr txBox="1"/>
          <p:nvPr/>
        </p:nvSpPr>
        <p:spPr bwMode="auto">
          <a:xfrm flipH="0" flipV="0">
            <a:off x="3007126" y="121970"/>
            <a:ext cx="696563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Заключение</a:t>
            </a:r>
            <a:endParaRPr sz="2200" b="1">
              <a:latin typeface="Verdana"/>
              <a:cs typeface="Verdana"/>
            </a:endParaRPr>
          </a:p>
        </p:txBody>
      </p:sp>
      <p:sp>
        <p:nvSpPr>
          <p:cNvPr id="274983594" name=""/>
          <p:cNvSpPr txBox="1"/>
          <p:nvPr/>
        </p:nvSpPr>
        <p:spPr bwMode="auto">
          <a:xfrm flipH="0" flipV="0">
            <a:off x="2431225" y="963596"/>
            <a:ext cx="8171802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В ходе работы была создана система для определения deepfake по фото, видео и аудио.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Реализованы модель, API и пользовательский интерфейс.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Полученный результат показывает, что разработанный подход может использоваться как основа для практических решений в области проверки цифрового контента.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Были построены планы и намечены цели.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 Из каждой ошибки был извлечен ценный опыт, который поможет в будущем проекту добиться успеха.</a:t>
            </a:r>
            <a:endParaRPr lang="ru-RU" sz="2000" b="0" i="0" u="none" strike="noStrike" cap="none" spc="0">
              <a:solidFill>
                <a:schemeClr val="tx1"/>
              </a:solidFill>
              <a:latin typeface="Verdana"/>
              <a:cs typeface="Verdana"/>
            </a:endParaRPr>
          </a:p>
        </p:txBody>
      </p:sp>
      <p:pic>
        <p:nvPicPr>
          <p:cNvPr id="72936880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129142" y="3959328"/>
            <a:ext cx="4026190" cy="2684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Р7-Офис/2025.1.1.763</Application>
  <DocSecurity>0</DocSecurity>
  <PresentationFormat>Widescreen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demoexam</cp:lastModifiedBy>
  <cp:revision>6</cp:revision>
  <dcterms:modified xsi:type="dcterms:W3CDTF">2026-03-30T11:41:45Z</dcterms:modified>
  <cp:category/>
  <cp:contentStatus/>
  <cp:version/>
</cp:coreProperties>
</file>